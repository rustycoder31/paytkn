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  <p:txBody>
          <a:bodyPr/>
          <a:p/>
          <a:lstStyle/>
        </p:txBody>
      </p:sp>
      <p:sp>
        <p:nvSpPr>
          <p:cNvPr id="3" name="Shape 1"/>
          <p:cNvSpPr/>
          <p:nvPr/>
        </p:nvSpPr>
        <p:spPr>
          <a:xfrm>
            <a:off x="9025128" y="0"/>
            <a:ext cx="11887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4" name="Shape 2"/>
          <p:cNvSpPr/>
          <p:nvPr/>
        </p:nvSpPr>
        <p:spPr>
          <a:xfrm>
            <a:off x="0" y="3310128"/>
            <a:ext cx="5852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Text 3"/>
          <p:cNvSpPr/>
          <p:nvPr/>
        </p:nvSpPr>
        <p:spPr>
          <a:xfrm>
            <a:off x="32004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[APP-XXXX]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5486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8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AI-Governed Decentralized Payment Token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20040" y="3456432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$48 TRILLION crosses borders.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Pakistanis alone send $30B+ in remittances — paying 6%+ in fees.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promised to fix this. Instead it created 500+ fragmented tokens,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needing its own gas coin. We built the fix.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4709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Essa  ·  AI/ML Lead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4919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Arbaaz  ·  Co-Founder  |  NUST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48272" y="548640"/>
            <a:ext cx="2286000" cy="2286000"/>
          </a:xfrm>
          <a:prstGeom prst="ellipse">
            <a:avLst/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3" name="Shape 11"/>
          <p:cNvSpPr/>
          <p:nvPr/>
        </p:nvSpPr>
        <p:spPr>
          <a:xfrm>
            <a:off x="6446520" y="256032"/>
            <a:ext cx="2660904" cy="2926080"/>
          </a:xfrm>
          <a:prstGeom prst="ellipse">
            <a:avLst/>
          </a:prstGeom>
          <a:solidFill>
            <a:srgbClr val="00D4FF">
              <a:alpha val="4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1234440" cy="1234440"/>
          </a:xfrm>
          <a:prstGeom prst="ellipse">
            <a:avLst/>
          </a:prstGeom>
          <a:solidFill>
            <a:srgbClr val="F5A623">
              <a:alpha val="8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5" name="Text 13"/>
          <p:cNvSpPr/>
          <p:nvPr/>
        </p:nvSpPr>
        <p:spPr>
          <a:xfrm>
            <a:off x="7269480" y="18288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PAYTKN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88352" y="5029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Shape 15"/>
          <p:cNvSpPr/>
          <p:nvPr/>
        </p:nvSpPr>
        <p:spPr>
          <a:xfrm>
            <a:off x="8503920" y="19202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Shape 16"/>
          <p:cNvSpPr/>
          <p:nvPr/>
        </p:nvSpPr>
        <p:spPr>
          <a:xfrm>
            <a:off x="8046720" y="321868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6400800" y="2331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5989320" y="4846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 8 · COHORT 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Real — And It's Costing Billions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Shape 4"/>
          <p:cNvSpPr/>
          <p:nvPr/>
        </p:nvSpPr>
        <p:spPr>
          <a:xfrm>
            <a:off x="292608" y="822960"/>
            <a:ext cx="59436" cy="4133088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1316736" y="969264"/>
            <a:ext cx="676656" cy="676656"/>
          </a:xfrm>
          <a:prstGeom prst="ellipse">
            <a:avLst/>
          </a:prstGeom>
          <a:solidFill>
            <a:srgbClr val="FF4040">
              <a:alpha val="20000"/>
            </a:srgbClr>
          </a:solidFill>
          <a:ln w="1905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131673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 on $500 remittance = $30 lost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Fees Are Robbery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13" name="Text 11"/>
          <p:cNvSpPr/>
          <p:nvPr/>
        </p:nvSpPr>
        <p:spPr>
          <a:xfrm>
            <a:off x="61264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avg: 6.4% global remittance fee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15" name="Text 13"/>
          <p:cNvSpPr/>
          <p:nvPr/>
        </p:nvSpPr>
        <p:spPr>
          <a:xfrm>
            <a:off x="61264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receives $30B+ yearly — $1.9B+ lost in fees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Text 15"/>
          <p:cNvSpPr/>
          <p:nvPr/>
        </p:nvSpPr>
        <p:spPr>
          <a:xfrm>
            <a:off x="61264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UAE-to-Pakistan corridor: 5–8% per transfer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352544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Text 17"/>
          <p:cNvSpPr/>
          <p:nvPr/>
        </p:nvSpPr>
        <p:spPr>
          <a:xfrm>
            <a:off x="61264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charge 2–3% FX markup on top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90872"/>
            <a:ext cx="91440" cy="91440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21" name="Text 19"/>
          <p:cNvSpPr/>
          <p:nvPr/>
        </p:nvSpPr>
        <p:spPr>
          <a:xfrm>
            <a:off x="61264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Unbanked: 1.7B people globally excluded from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2724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3" name="Shape 21"/>
          <p:cNvSpPr/>
          <p:nvPr/>
        </p:nvSpPr>
        <p:spPr>
          <a:xfrm>
            <a:off x="3127248" y="822960"/>
            <a:ext cx="59436" cy="41330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4" name="Shape 22"/>
          <p:cNvSpPr/>
          <p:nvPr/>
        </p:nvSpPr>
        <p:spPr>
          <a:xfrm>
            <a:off x="4151376" y="969264"/>
            <a:ext cx="676656" cy="676656"/>
          </a:xfrm>
          <a:prstGeom prst="ellipse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5" name="Text 23"/>
          <p:cNvSpPr/>
          <p:nvPr/>
        </p:nvSpPr>
        <p:spPr>
          <a:xfrm>
            <a:off x="415137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1868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21868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none universally accepted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5526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Is Too Fragmented to Use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33375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0" name="Text 28"/>
          <p:cNvSpPr/>
          <p:nvPr/>
        </p:nvSpPr>
        <p:spPr>
          <a:xfrm>
            <a:off x="344728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ETH? You need ETH gas to transfer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6758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2" name="Text 30"/>
          <p:cNvSpPr/>
          <p:nvPr/>
        </p:nvSpPr>
        <p:spPr>
          <a:xfrm>
            <a:off x="344728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SOL? You need SOL gas to transfer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401421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4" name="Text 32"/>
          <p:cNvSpPr/>
          <p:nvPr/>
        </p:nvSpPr>
        <p:spPr>
          <a:xfrm>
            <a:off x="344728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can't accept 500 coins — too complex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435254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6" name="Text 34"/>
          <p:cNvSpPr/>
          <p:nvPr/>
        </p:nvSpPr>
        <p:spPr>
          <a:xfrm>
            <a:off x="344728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crypto needs its own wallet, exchange &amp; fees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469087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8" name="Text 36"/>
          <p:cNvSpPr/>
          <p:nvPr/>
        </p:nvSpPr>
        <p:spPr>
          <a:xfrm>
            <a:off x="344728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crypto adoption for payments near zero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61888" y="822960"/>
            <a:ext cx="2724912" cy="4133088"/>
          </a:xfrm>
          <a:prstGeom prst="roundRect">
            <a:avLst>
              <a:gd name="adj" fmla="val 3356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Shape 38"/>
          <p:cNvSpPr/>
          <p:nvPr/>
        </p:nvSpPr>
        <p:spPr>
          <a:xfrm>
            <a:off x="5961888" y="822960"/>
            <a:ext cx="59436" cy="41330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1" name="Shape 39"/>
          <p:cNvSpPr/>
          <p:nvPr/>
        </p:nvSpPr>
        <p:spPr>
          <a:xfrm>
            <a:off x="6986016" y="969264"/>
            <a:ext cx="676656" cy="676656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2" name="Text 40"/>
          <p:cNvSpPr/>
          <p:nvPr/>
        </p:nvSpPr>
        <p:spPr>
          <a:xfrm>
            <a:off x="6986016" y="96926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053328" y="178308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$40B</a:t>
            </a:r>
            <a:endParaRPr lang="en-US" sz="3800" dirty="0"/>
          </a:p>
        </p:txBody>
      </p:sp>
      <p:sp>
        <p:nvSpPr>
          <p:cNvPr id="44" name="Text 42"/>
          <p:cNvSpPr/>
          <p:nvPr/>
        </p:nvSpPr>
        <p:spPr>
          <a:xfrm>
            <a:off x="6053328" y="2423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in 72hrs — Terra/LUNA 2022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9904" y="2788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Protocols Collapse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26480" y="33375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7" name="Text 45"/>
          <p:cNvSpPr/>
          <p:nvPr/>
        </p:nvSpPr>
        <p:spPr>
          <a:xfrm>
            <a:off x="6281928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parameters can't adapt to market shocks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367588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9" name="Text 47"/>
          <p:cNvSpPr/>
          <p:nvPr/>
        </p:nvSpPr>
        <p:spPr>
          <a:xfrm>
            <a:off x="6281928" y="3648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burn rate breaks in bear markets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401421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1" name="Text 49"/>
          <p:cNvSpPr/>
          <p:nvPr/>
        </p:nvSpPr>
        <p:spPr>
          <a:xfrm>
            <a:off x="6281928" y="3986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treasury management = too slow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435254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3" name="Text 51"/>
          <p:cNvSpPr/>
          <p:nvPr/>
        </p:nvSpPr>
        <p:spPr>
          <a:xfrm>
            <a:off x="6281928" y="4325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backstop when liquidity evaporates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26480" y="469087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5" name="Text 53"/>
          <p:cNvSpPr/>
          <p:nvPr/>
        </p:nvSpPr>
        <p:spPr>
          <a:xfrm>
            <a:off x="6281928" y="4663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LPs, merchants all lose savings overnight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Solution Has a Fatal Flaw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68680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Shape 4"/>
          <p:cNvSpPr/>
          <p:nvPr/>
        </p:nvSpPr>
        <p:spPr>
          <a:xfrm>
            <a:off x="292608" y="868680"/>
            <a:ext cx="59436" cy="896112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Text 5"/>
          <p:cNvSpPr/>
          <p:nvPr/>
        </p:nvSpPr>
        <p:spPr>
          <a:xfrm>
            <a:off x="502920" y="941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07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fees (2–3%), card-only, geographic limits, zero crypto, chargeback fraud, requires bank account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892808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1" name="Shape 9"/>
          <p:cNvSpPr/>
          <p:nvPr/>
        </p:nvSpPr>
        <p:spPr>
          <a:xfrm>
            <a:off x="292608" y="1892808"/>
            <a:ext cx="59436" cy="8961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Text 10"/>
          <p:cNvSpPr/>
          <p:nvPr/>
        </p:nvSpPr>
        <p:spPr>
          <a:xfrm>
            <a:off x="5029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Pay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exchange risk, regulatory bans (UK, EU), BNB-only ecosystem, no DeFi rewards, users need Binance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2916936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16" name="Shape 14"/>
          <p:cNvSpPr/>
          <p:nvPr/>
        </p:nvSpPr>
        <p:spPr>
          <a:xfrm>
            <a:off x="292608" y="2916936"/>
            <a:ext cx="59436" cy="89611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Text 15"/>
          <p:cNvSpPr/>
          <p:nvPr/>
        </p:nvSpPr>
        <p:spPr>
          <a:xfrm>
            <a:off x="502920" y="2990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 / LUNA (DeFi)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355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Algorithmic, no real collateral, static burn/mint ratio, zero adaptability → $40B collapse in 72 hours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" y="3941064"/>
            <a:ext cx="8558784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21" name="Shape 19"/>
          <p:cNvSpPr/>
          <p:nvPr/>
        </p:nvSpPr>
        <p:spPr>
          <a:xfrm>
            <a:off x="292608" y="3941064"/>
            <a:ext cx="59436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22" name="Text 20"/>
          <p:cNvSpPr/>
          <p:nvPr/>
        </p:nvSpPr>
        <p:spPr>
          <a:xfrm>
            <a:off x="502920" y="4014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DEX / AMM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3799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UX, impermanent loss, fragmented liquidity, gas fees per swap, no merchant integration, no rewards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" y="4604004"/>
            <a:ext cx="8558784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6" name="Text 24"/>
          <p:cNvSpPr/>
          <p:nvPr/>
        </p:nvSpPr>
        <p:spPr>
          <a:xfrm>
            <a:off x="457200" y="47228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solve cross-chain payments + merchant adoption + DeFi stability + AI adaptability — simultaneously. GreyHatFinance does.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GreyHatFinance: One Token. Every Crypto. AI-Governed.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41248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Shape 4"/>
          <p:cNvSpPr/>
          <p:nvPr/>
        </p:nvSpPr>
        <p:spPr>
          <a:xfrm>
            <a:off x="292608" y="841248"/>
            <a:ext cx="59436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502920" y="1133856"/>
            <a:ext cx="347472" cy="347472"/>
          </a:xfrm>
          <a:prstGeom prst="ellipse">
            <a:avLst/>
          </a:prstGeom>
          <a:solidFill>
            <a:srgbClr val="00D4FF">
              <a:alpha val="18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50292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Payment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280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crypto → bridges via Jumper/LI.FI → auto-converts to $PAYTKN. One token accepted everywhere.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1883664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Shape 10"/>
          <p:cNvSpPr/>
          <p:nvPr/>
        </p:nvSpPr>
        <p:spPr>
          <a:xfrm>
            <a:off x="292608" y="1883664"/>
            <a:ext cx="59436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3" name="Shape 11"/>
          <p:cNvSpPr/>
          <p:nvPr/>
        </p:nvSpPr>
        <p:spPr>
          <a:xfrm>
            <a:off x="502920" y="2176272"/>
            <a:ext cx="347472" cy="347472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4" name="Text 12"/>
          <p:cNvSpPr/>
          <p:nvPr/>
        </p:nvSpPr>
        <p:spPr>
          <a:xfrm>
            <a:off x="5029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19568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Reinforcement Learning 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3225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 observes 8+ market signals, dynamically adjusts burn rate, mint rate, APY, treasury ratio every epoch.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92608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Shape 16"/>
          <p:cNvSpPr/>
          <p:nvPr/>
        </p:nvSpPr>
        <p:spPr>
          <a:xfrm>
            <a:off x="292608" y="2926080"/>
            <a:ext cx="59436" cy="91440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502920" y="3218688"/>
            <a:ext cx="347472" cy="347472"/>
          </a:xfrm>
          <a:prstGeom prst="ellipse">
            <a:avLst/>
          </a:prstGeom>
          <a:solidFill>
            <a:srgbClr val="00C87A">
              <a:alpha val="18000"/>
            </a:srgbClr>
          </a:solidFill>
          <a:ln w="1905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5029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2999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Closed 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3649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Merchants → Treasury → LPs → Users. Fees cycle back. Token demand is structural, not speculative.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968496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24" name="Shape 22"/>
          <p:cNvSpPr/>
          <p:nvPr/>
        </p:nvSpPr>
        <p:spPr>
          <a:xfrm>
            <a:off x="292608" y="3968496"/>
            <a:ext cx="59436" cy="91440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25" name="Shape 23"/>
          <p:cNvSpPr/>
          <p:nvPr/>
        </p:nvSpPr>
        <p:spPr>
          <a:xfrm>
            <a:off x="502920" y="4261104"/>
            <a:ext cx="347472" cy="347472"/>
          </a:xfrm>
          <a:prstGeom prst="ellipse">
            <a:avLst/>
          </a:prstGeom>
          <a:solidFill>
            <a:srgbClr val="9B6DFF">
              <a:alpha val="18000"/>
            </a:srgbClr>
          </a:solidFill>
          <a:ln w="1905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26" name="Text 24"/>
          <p:cNvSpPr/>
          <p:nvPr/>
        </p:nvSpPr>
        <p:spPr>
          <a:xfrm>
            <a:off x="502920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as Backstop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4074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Protocol-owned liquidity absorbs shocks. Buybacks, burns, and IL coverage prevent ecosystem collapse.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77840" y="841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01968" y="1298448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31" name="Text 29"/>
          <p:cNvSpPr/>
          <p:nvPr/>
        </p:nvSpPr>
        <p:spPr>
          <a:xfrm>
            <a:off x="6601968" y="13716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17099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earn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90688" y="2331720"/>
            <a:ext cx="1316736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4" name="Text 32"/>
          <p:cNvSpPr/>
          <p:nvPr/>
        </p:nvSpPr>
        <p:spPr>
          <a:xfrm>
            <a:off x="7790688" y="24048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90688" y="27432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&amp; stake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01968" y="3364992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37" name="Text 35"/>
          <p:cNvSpPr/>
          <p:nvPr/>
        </p:nvSpPr>
        <p:spPr>
          <a:xfrm>
            <a:off x="6601968" y="343814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01968" y="37764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burn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13248" y="2331720"/>
            <a:ext cx="1426464" cy="804672"/>
          </a:xfrm>
          <a:prstGeom prst="roundRect">
            <a:avLst>
              <a:gd name="adj" fmla="val 11364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Text 38"/>
          <p:cNvSpPr/>
          <p:nvPr/>
        </p:nvSpPr>
        <p:spPr>
          <a:xfrm>
            <a:off x="5413248" y="240487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13248" y="27432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&amp; yield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2121408"/>
            <a:ext cx="1188720" cy="1188720"/>
          </a:xfrm>
          <a:prstGeom prst="ellipse">
            <a:avLst/>
          </a:prstGeom>
          <a:solidFill>
            <a:srgbClr val="F5A623">
              <a:alpha val="9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43" name="Text 41"/>
          <p:cNvSpPr/>
          <p:nvPr/>
        </p:nvSpPr>
        <p:spPr>
          <a:xfrm>
            <a:off x="6720840" y="2423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$PAYTKN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14032" y="2103120"/>
            <a:ext cx="676656" cy="22860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5" name="Shape 43"/>
          <p:cNvSpPr/>
          <p:nvPr/>
        </p:nvSpPr>
        <p:spPr>
          <a:xfrm>
            <a:off x="7790688" y="3136392"/>
            <a:ext cx="-676656" cy="22860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6" name="Shape 44"/>
          <p:cNvSpPr/>
          <p:nvPr/>
        </p:nvSpPr>
        <p:spPr>
          <a:xfrm>
            <a:off x="6601968" y="3364992"/>
            <a:ext cx="-475488" cy="-484632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7" name="Shape 45"/>
          <p:cNvSpPr/>
          <p:nvPr/>
        </p:nvSpPr>
        <p:spPr>
          <a:xfrm>
            <a:off x="5413248" y="2331720"/>
            <a:ext cx="1188720" cy="-50292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8" name="Shape 46"/>
          <p:cNvSpPr/>
          <p:nvPr/>
        </p:nvSpPr>
        <p:spPr>
          <a:xfrm>
            <a:off x="292608" y="4585716"/>
            <a:ext cx="8558784" cy="521208"/>
          </a:xfrm>
          <a:prstGeom prst="roundRect">
            <a:avLst>
              <a:gd name="adj" fmla="val 12281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9" name="Text 47"/>
          <p:cNvSpPr/>
          <p:nvPr/>
        </p:nvSpPr>
        <p:spPr>
          <a:xfrm>
            <a:off x="502920" y="4869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02920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market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51760" y="4869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651760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remittances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0600" y="4869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560M+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800600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users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49440" y="4869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49440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fee we undercut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Payment Works —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Text 4"/>
          <p:cNvSpPr/>
          <p:nvPr/>
        </p:nvSpPr>
        <p:spPr>
          <a:xfrm>
            <a:off x="29260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934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Shape 6"/>
          <p:cNvSpPr/>
          <p:nvPr/>
        </p:nvSpPr>
        <p:spPr>
          <a:xfrm>
            <a:off x="175564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9" name="Text 7"/>
          <p:cNvSpPr/>
          <p:nvPr/>
        </p:nvSpPr>
        <p:spPr>
          <a:xfrm>
            <a:off x="175564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 Crypto'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7238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11" name="Shape 9"/>
          <p:cNvSpPr/>
          <p:nvPr/>
        </p:nvSpPr>
        <p:spPr>
          <a:xfrm>
            <a:off x="321868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Text 10"/>
          <p:cNvSpPr/>
          <p:nvPr/>
        </p:nvSpPr>
        <p:spPr>
          <a:xfrm>
            <a:off x="321868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3542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14" name="Shape 12"/>
          <p:cNvSpPr/>
          <p:nvPr/>
        </p:nvSpPr>
        <p:spPr>
          <a:xfrm>
            <a:off x="468172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5" name="Text 13"/>
          <p:cNvSpPr/>
          <p:nvPr/>
        </p:nvSpPr>
        <p:spPr>
          <a:xfrm>
            <a:off x="468172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TX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9846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Shape 15"/>
          <p:cNvSpPr/>
          <p:nvPr/>
        </p:nvSpPr>
        <p:spPr>
          <a:xfrm>
            <a:off x="614476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Text 16"/>
          <p:cNvSpPr/>
          <p:nvPr/>
        </p:nvSpPr>
        <p:spPr>
          <a:xfrm>
            <a:off x="614476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61504" y="1133856"/>
            <a:ext cx="146304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Shape 18"/>
          <p:cNvSpPr/>
          <p:nvPr/>
        </p:nvSpPr>
        <p:spPr>
          <a:xfrm>
            <a:off x="7607808" y="804672"/>
            <a:ext cx="1316736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1" name="Text 19"/>
          <p:cNvSpPr/>
          <p:nvPr/>
        </p:nvSpPr>
        <p:spPr>
          <a:xfrm>
            <a:off x="7607808" y="804672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302752" y="1133856"/>
            <a:ext cx="0" cy="658368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3" name="Shape 21"/>
          <p:cNvSpPr/>
          <p:nvPr/>
        </p:nvSpPr>
        <p:spPr>
          <a:xfrm>
            <a:off x="6675120" y="1792224"/>
            <a:ext cx="1627632" cy="0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4" name="Shape 22"/>
          <p:cNvSpPr/>
          <p:nvPr/>
        </p:nvSpPr>
        <p:spPr>
          <a:xfrm>
            <a:off x="6675120" y="1792224"/>
            <a:ext cx="1627632" cy="914400"/>
          </a:xfrm>
          <a:prstGeom prst="line">
            <a:avLst/>
          </a:prstGeom>
          <a:noFill/>
          <a:ln w="1270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5" name="Shape 23"/>
          <p:cNvSpPr/>
          <p:nvPr/>
        </p:nvSpPr>
        <p:spPr>
          <a:xfrm>
            <a:off x="5120640" y="1810512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6" name="Text 24"/>
          <p:cNvSpPr/>
          <p:nvPr/>
        </p:nvSpPr>
        <p:spPr>
          <a:xfrm>
            <a:off x="5120640" y="18105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Token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(ETH, BTC, SOL…)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2066544"/>
            <a:ext cx="-438912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8" name="Shape 26"/>
          <p:cNvSpPr/>
          <p:nvPr/>
        </p:nvSpPr>
        <p:spPr>
          <a:xfrm>
            <a:off x="3456432" y="1810512"/>
            <a:ext cx="1627632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9" name="Text 27"/>
          <p:cNvSpPr/>
          <p:nvPr/>
        </p:nvSpPr>
        <p:spPr>
          <a:xfrm>
            <a:off x="3456432" y="18105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Jumper/LI.FI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+ Swap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2743200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1" name="Text 29"/>
          <p:cNvSpPr/>
          <p:nvPr/>
        </p:nvSpPr>
        <p:spPr>
          <a:xfrm>
            <a:off x="5120640" y="274320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$PAYTKN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56432" y="2066544"/>
            <a:ext cx="-658368" cy="54864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Shape 31"/>
          <p:cNvSpPr/>
          <p:nvPr/>
        </p:nvSpPr>
        <p:spPr>
          <a:xfrm>
            <a:off x="5120640" y="2999232"/>
            <a:ext cx="-658368" cy="-384048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4" name="Shape 32"/>
          <p:cNvSpPr/>
          <p:nvPr/>
        </p:nvSpPr>
        <p:spPr>
          <a:xfrm>
            <a:off x="1993392" y="2340864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35" name="Text 33"/>
          <p:cNvSpPr/>
          <p:nvPr/>
        </p:nvSpPr>
        <p:spPr>
          <a:xfrm>
            <a:off x="1993392" y="23408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Auto-Convert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$PAYTKN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93392" y="2596896"/>
            <a:ext cx="-658368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37" name="Shape 35"/>
          <p:cNvSpPr/>
          <p:nvPr/>
        </p:nvSpPr>
        <p:spPr>
          <a:xfrm>
            <a:off x="292608" y="2395728"/>
            <a:ext cx="1298448" cy="512064"/>
          </a:xfrm>
          <a:prstGeom prst="roundRect">
            <a:avLst>
              <a:gd name="adj" fmla="val 12500"/>
            </a:avLst>
          </a:prstGeom>
          <a:solidFill>
            <a:srgbClr val="1A2012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8" name="Text 36"/>
          <p:cNvSpPr/>
          <p:nvPr/>
        </p:nvSpPr>
        <p:spPr>
          <a:xfrm>
            <a:off x="292608" y="239572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Tax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1832" y="2907792"/>
            <a:ext cx="0" cy="41148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Shape 38"/>
          <p:cNvSpPr/>
          <p:nvPr/>
        </p:nvSpPr>
        <p:spPr>
          <a:xfrm>
            <a:off x="941832" y="2907792"/>
            <a:ext cx="-594360" cy="411480"/>
          </a:xfrm>
          <a:prstGeom prst="line">
            <a:avLst/>
          </a:prstGeom>
          <a:noFill/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1" name="Shape 39"/>
          <p:cNvSpPr/>
          <p:nvPr/>
        </p:nvSpPr>
        <p:spPr>
          <a:xfrm>
            <a:off x="941832" y="2907792"/>
            <a:ext cx="594360" cy="411480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42" name="Shape 40"/>
          <p:cNvSpPr/>
          <p:nvPr/>
        </p:nvSpPr>
        <p:spPr>
          <a:xfrm>
            <a:off x="7315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3" name="Text 41"/>
          <p:cNvSpPr/>
          <p:nvPr/>
        </p:nvSpPr>
        <p:spPr>
          <a:xfrm>
            <a:off x="7315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Mechanics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destroyed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1323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46" name="Text 44"/>
          <p:cNvSpPr/>
          <p:nvPr/>
        </p:nvSpPr>
        <p:spPr>
          <a:xfrm>
            <a:off x="71323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53312" y="333756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49" name="Text 47"/>
          <p:cNvSpPr/>
          <p:nvPr/>
        </p:nvSpPr>
        <p:spPr>
          <a:xfrm>
            <a:off x="1353312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353312" y="36484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Jumper fee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993392" y="3319272"/>
            <a:ext cx="384048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52" name="Shape 50"/>
          <p:cNvSpPr/>
          <p:nvPr/>
        </p:nvSpPr>
        <p:spPr>
          <a:xfrm>
            <a:off x="2395728" y="3127248"/>
            <a:ext cx="1353312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53" name="Text 51"/>
          <p:cNvSpPr/>
          <p:nvPr/>
        </p:nvSpPr>
        <p:spPr>
          <a:xfrm>
            <a:off x="2395728" y="312724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383280"/>
            <a:ext cx="384048" cy="0"/>
          </a:xfrm>
          <a:prstGeom prst="line">
            <a:avLst/>
          </a:prstGeom>
          <a:noFill/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55" name="Shape 53"/>
          <p:cNvSpPr/>
          <p:nvPr/>
        </p:nvSpPr>
        <p:spPr>
          <a:xfrm>
            <a:off x="4151376" y="3127248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56" name="Text 54"/>
          <p:cNvSpPr/>
          <p:nvPr/>
        </p:nvSpPr>
        <p:spPr>
          <a:xfrm>
            <a:off x="4151376" y="312724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93392" y="2066544"/>
            <a:ext cx="658368" cy="-512064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8" name="Shape 56"/>
          <p:cNvSpPr/>
          <p:nvPr/>
        </p:nvSpPr>
        <p:spPr>
          <a:xfrm>
            <a:off x="2670048" y="1298448"/>
            <a:ext cx="1426464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9" name="Text 57"/>
          <p:cNvSpPr/>
          <p:nvPr/>
        </p:nvSpPr>
        <p:spPr>
          <a:xfrm>
            <a:off x="2670048" y="1298448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Pool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096512" y="1554480"/>
            <a:ext cx="731520" cy="0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61" name="Shape 59"/>
          <p:cNvSpPr/>
          <p:nvPr/>
        </p:nvSpPr>
        <p:spPr>
          <a:xfrm>
            <a:off x="4846320" y="1298448"/>
            <a:ext cx="111556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62" name="Text 60"/>
          <p:cNvSpPr/>
          <p:nvPr/>
        </p:nvSpPr>
        <p:spPr>
          <a:xfrm>
            <a:off x="4846320" y="1298448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50992" y="1828800"/>
            <a:ext cx="3200400" cy="3154680"/>
          </a:xfrm>
          <a:prstGeom prst="roundRect">
            <a:avLst>
              <a:gd name="adj" fmla="val 2319"/>
            </a:avLst>
          </a:prstGeom>
          <a:solidFill>
            <a:srgbClr val="1A3358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4" name="Text 62"/>
          <p:cNvSpPr/>
          <p:nvPr/>
        </p:nvSpPr>
        <p:spPr>
          <a:xfrm>
            <a:off x="5742432" y="1901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Reward Engine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742432" y="2359152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6" name="Text 64"/>
          <p:cNvSpPr/>
          <p:nvPr/>
        </p:nvSpPr>
        <p:spPr>
          <a:xfrm>
            <a:off x="5742432" y="235915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Tiers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levels: 100→50→25→12→6%)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742432" y="2880360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68" name="Text 66"/>
          <p:cNvSpPr/>
          <p:nvPr/>
        </p:nvSpPr>
        <p:spPr>
          <a:xfrm>
            <a:off x="5742432" y="28803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Score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(usage streak × cancel penalty)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742432" y="3401568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70" name="Text 68"/>
          <p:cNvSpPr/>
          <p:nvPr/>
        </p:nvSpPr>
        <p:spPr>
          <a:xfrm>
            <a:off x="5742432" y="34015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Periods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(recurring billing bonus)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742432" y="3922776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72" name="Text 70"/>
          <p:cNvSpPr/>
          <p:nvPr/>
        </p:nvSpPr>
        <p:spPr>
          <a:xfrm>
            <a:off x="5742432" y="39227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 Amount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(volume-weighted scaling)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742432" y="4443984"/>
            <a:ext cx="2834640" cy="438912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74" name="Text 72"/>
          <p:cNvSpPr/>
          <p:nvPr/>
        </p:nvSpPr>
        <p:spPr>
          <a:xfrm>
            <a:off x="5742432" y="44439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/ Staked Amount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 multiplier)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650992" y="4974336"/>
            <a:ext cx="-658368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6" name="Shape 74"/>
          <p:cNvSpPr/>
          <p:nvPr/>
        </p:nvSpPr>
        <p:spPr>
          <a:xfrm>
            <a:off x="4151376" y="4594860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7" name="Text 75"/>
          <p:cNvSpPr/>
          <p:nvPr/>
        </p:nvSpPr>
        <p:spPr>
          <a:xfrm>
            <a:off x="4151376" y="4594860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51376" y="5010912"/>
            <a:ext cx="-164592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9" name="Shape 77"/>
          <p:cNvSpPr/>
          <p:nvPr/>
        </p:nvSpPr>
        <p:spPr>
          <a:xfrm>
            <a:off x="2194560" y="4594860"/>
            <a:ext cx="1572768" cy="512064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0" name="Text 78"/>
          <p:cNvSpPr/>
          <p:nvPr/>
        </p:nvSpPr>
        <p:spPr>
          <a:xfrm>
            <a:off x="2194560" y="459486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User's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&amp; Token Economy — Built to Survive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Text 3"/>
          <p:cNvSpPr/>
          <p:nvPr/>
        </p:nvSpPr>
        <p:spPr>
          <a:xfrm>
            <a:off x="292608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Inflows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07008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292608" y="1207008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502920" y="1261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Fees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0.0x% on every payment processed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1865376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1" name="Shape 9"/>
          <p:cNvSpPr/>
          <p:nvPr/>
        </p:nvSpPr>
        <p:spPr>
          <a:xfrm>
            <a:off x="292608" y="1865376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Text 10"/>
          <p:cNvSpPr/>
          <p:nvPr/>
        </p:nvSpPr>
        <p:spPr>
          <a:xfrm>
            <a:off x="5029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Fees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1579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Bridge/routing fee on cross-token payments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523744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5" name="Shape 13"/>
          <p:cNvSpPr/>
          <p:nvPr/>
        </p:nvSpPr>
        <p:spPr>
          <a:xfrm>
            <a:off x="292608" y="2523744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6" name="Text 14"/>
          <p:cNvSpPr/>
          <p:nvPr/>
        </p:nvSpPr>
        <p:spPr>
          <a:xfrm>
            <a:off x="502920" y="2578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8163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overcollateralized loans (150%)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182112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292608" y="3182112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502920" y="32369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Tax Share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4747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every minting event redirected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" y="384048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3" name="Shape 21"/>
          <p:cNvSpPr/>
          <p:nvPr/>
        </p:nvSpPr>
        <p:spPr>
          <a:xfrm>
            <a:off x="292608" y="3840480"/>
            <a:ext cx="59436" cy="56692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4" name="Text 22"/>
          <p:cNvSpPr/>
          <p:nvPr/>
        </p:nvSpPr>
        <p:spPr>
          <a:xfrm>
            <a:off x="5029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Liquidations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1330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collateral burned on default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822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Outflows &amp; Mechanics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1207008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8" name="Shape 26"/>
          <p:cNvSpPr/>
          <p:nvPr/>
        </p:nvSpPr>
        <p:spPr>
          <a:xfrm>
            <a:off x="4526280" y="1207008"/>
            <a:ext cx="59436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9" name="Text 27"/>
          <p:cNvSpPr/>
          <p:nvPr/>
        </p:nvSpPr>
        <p:spPr>
          <a:xfrm>
            <a:off x="4736592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Rewards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36592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per epoch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(Lockup Type × Invite Tier × Amount Staked)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2048256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32" name="Shape 30"/>
          <p:cNvSpPr/>
          <p:nvPr/>
        </p:nvSpPr>
        <p:spPr>
          <a:xfrm>
            <a:off x="4526280" y="2048256"/>
            <a:ext cx="59436" cy="7498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Text 31"/>
          <p:cNvSpPr/>
          <p:nvPr/>
        </p:nvSpPr>
        <p:spPr>
          <a:xfrm>
            <a:off x="4736592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/ Loans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36592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overcollateral loans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Auto-liquidated on default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2889504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36" name="Shape 34"/>
          <p:cNvSpPr/>
          <p:nvPr/>
        </p:nvSpPr>
        <p:spPr>
          <a:xfrm>
            <a:off x="4526280" y="2889504"/>
            <a:ext cx="59436" cy="749808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37" name="Text 35"/>
          <p:cNvSpPr/>
          <p:nvPr/>
        </p:nvSpPr>
        <p:spPr>
          <a:xfrm>
            <a:off x="4736592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&amp; Burn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32369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buys $PAYTKN in downturns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 excess when inflation risk high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26280" y="3730752"/>
            <a:ext cx="4315968" cy="749808"/>
          </a:xfrm>
          <a:prstGeom prst="roundRect">
            <a:avLst>
              <a:gd name="adj" fmla="val 8537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Shape 38"/>
          <p:cNvSpPr/>
          <p:nvPr/>
        </p:nvSpPr>
        <p:spPr>
          <a:xfrm>
            <a:off x="4526280" y="3730752"/>
            <a:ext cx="59436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41" name="Text 39"/>
          <p:cNvSpPr/>
          <p:nvPr/>
        </p:nvSpPr>
        <p:spPr>
          <a:xfrm>
            <a:off x="4736592" y="3785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Liquidity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4078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impermanent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DEX pool depth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4604004"/>
            <a:ext cx="8558784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4" name="Text 42"/>
          <p:cNvSpPr/>
          <p:nvPr/>
        </p:nvSpPr>
        <p:spPr>
          <a:xfrm>
            <a:off x="457200" y="47228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Mechanics: TX fee burns · Emission counterbalance burns · Threshold burns · Expired reward burns · Liquidation burns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Brain — Reinforcement Learning Governance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Text 3"/>
          <p:cNvSpPr/>
          <p:nvPr/>
        </p:nvSpPr>
        <p:spPr>
          <a:xfrm>
            <a:off x="292608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RL Agent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43584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384048" y="1591056"/>
            <a:ext cx="420624" cy="420624"/>
          </a:xfrm>
          <a:prstGeom prst="ellipse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38404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State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1664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$PAYTKN price + 7d/30d momentum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Treasury PAYTKN:Stable ratio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32688" y="2048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Active stakers + avg lock duration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32688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TX volume (24h / 7d rolling)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78608" y="16642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depth + impermanent loss pressure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78608" y="1856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Circulating vs staked supply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8608" y="2048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 volatility index (BTC corr.)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78608" y="22402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Abuse signal score (wallet clustering)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2505456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384048" y="2852928"/>
            <a:ext cx="420624" cy="420624"/>
          </a:xfrm>
          <a:prstGeom prst="ellipse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38404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2560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29260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Adjust mint emission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" y="31181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 burn % per transaction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3310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Trigger treasury buyback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78608" y="29260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Rebalance PAYTKN:Stable ratio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78608" y="31181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Shift staking APY band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78608" y="33101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 reward pool per epoch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2608" y="3767328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9" name="Shape 27"/>
          <p:cNvSpPr/>
          <p:nvPr/>
        </p:nvSpPr>
        <p:spPr>
          <a:xfrm>
            <a:off x="384048" y="4114800"/>
            <a:ext cx="420624" cy="420624"/>
          </a:xfrm>
          <a:prstGeom prst="ellipse">
            <a:avLst/>
          </a:prstGeom>
          <a:solidFill>
            <a:srgbClr val="00C87A">
              <a:alpha val="20000"/>
            </a:srgbClr>
          </a:solidFill>
          <a:ln w="1905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0" name="Text 28"/>
          <p:cNvSpPr/>
          <p:nvPr/>
        </p:nvSpPr>
        <p:spPr>
          <a:xfrm>
            <a:off x="38404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688" y="38221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Reward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32688" y="4187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Price stability score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2688" y="4379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Treasury health ratio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32688" y="45720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LP depth adequacy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78608" y="4187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 User growth rate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78608" y="4379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- Inflation rate above target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78608" y="45720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- Detected abuse activity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17720" y="841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Parameters Fail — Why AI Wins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17720" y="1243584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Text 38"/>
          <p:cNvSpPr/>
          <p:nvPr/>
        </p:nvSpPr>
        <p:spPr>
          <a:xfrm>
            <a:off x="4736592" y="1280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36592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Fixed 2% regardless of inflation or price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36592" y="16276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raises burn in inflation, lowers in deflation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1865376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4" name="Text 42"/>
          <p:cNvSpPr/>
          <p:nvPr/>
        </p:nvSpPr>
        <p:spPr>
          <a:xfrm>
            <a:off x="4736592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2103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Set at launch, unchanged for months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6592" y="22494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Adapts per epoch: treasury health × LP depth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487168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8" name="Text 46"/>
          <p:cNvSpPr/>
          <p:nvPr/>
        </p:nvSpPr>
        <p:spPr>
          <a:xfrm>
            <a:off x="4736592" y="2523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36592" y="27249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rebalancing — too slow in crashes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36592" y="2871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Algorithmic rebalance triggered by state signals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3108960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52" name="Text 50"/>
          <p:cNvSpPr/>
          <p:nvPr/>
        </p:nvSpPr>
        <p:spPr>
          <a:xfrm>
            <a:off x="4736592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36592" y="33467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Rules coded at deploy — exploited quickly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36592" y="34930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learns patterns, tightens thresholds live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3730752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56" name="Text 54"/>
          <p:cNvSpPr/>
          <p:nvPr/>
        </p:nvSpPr>
        <p:spPr>
          <a:xfrm>
            <a:off x="4736592" y="3767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Market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36592" y="39684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Protocol bleeds until shutdown vote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36592" y="41148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Buybacks + APY cuts auto-stabilise within epochs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17720" y="4352544"/>
            <a:ext cx="4251960" cy="548640"/>
          </a:xfrm>
          <a:prstGeom prst="roundRect">
            <a:avLst>
              <a:gd name="adj" fmla="val 10000"/>
            </a:avLst>
          </a:prstGeom>
          <a:solidFill>
            <a:srgbClr val="0C1B2E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60" name="Text 58"/>
          <p:cNvSpPr/>
          <p:nvPr/>
        </p:nvSpPr>
        <p:spPr>
          <a:xfrm>
            <a:off x="4736592" y="4389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36592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Inflation from fixed emission — price dumps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736592" y="47365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Emission capped, burns increase, treasury fills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4604004"/>
            <a:ext cx="4251960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64" name="Text 62"/>
          <p:cNvSpPr/>
          <p:nvPr/>
        </p:nvSpPr>
        <p:spPr>
          <a:xfrm>
            <a:off x="4773168" y="47228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PPO (Proximal Policy Optimisation)  ·  Pre-trained on simulated ecosystem  ·  Constrained action space for safety  ·  Human override layer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 — Competitive Positioning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22960"/>
            <a:ext cx="1682496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Text 4"/>
          <p:cNvSpPr/>
          <p:nvPr/>
        </p:nvSpPr>
        <p:spPr>
          <a:xfrm>
            <a:off x="292608" y="8229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93392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1993392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Stripe/PayPal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p/>
          <a:lstStyle/>
        </p:txBody>
      </p:sp>
      <p:sp>
        <p:nvSpPr>
          <p:cNvPr id="10" name="Text 8"/>
          <p:cNvSpPr/>
          <p:nvPr/>
        </p:nvSpPr>
        <p:spPr>
          <a:xfrm>
            <a:off x="3493008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Pay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92624" y="822960"/>
            <a:ext cx="1481328" cy="384048"/>
          </a:xfrm>
          <a:prstGeom prst="roundRect">
            <a:avLst>
              <a:gd name="adj" fmla="val 11905"/>
            </a:avLst>
          </a:prstGeom>
          <a:solidFill>
            <a:srgbClr val="1A3358"/>
          </a:solidFill>
          <a:ln w="15240">
            <a:solidFill>
              <a:srgbClr val="1A3358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Text 10"/>
          <p:cNvSpPr/>
          <p:nvPr/>
        </p:nvSpPr>
        <p:spPr>
          <a:xfrm>
            <a:off x="4992624" y="8229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2340864" cy="384048"/>
          </a:xfrm>
          <a:prstGeom prst="roundRect">
            <a:avLst>
              <a:gd name="adj" fmla="val 11905"/>
            </a:avLst>
          </a:prstGeom>
          <a:solidFill>
            <a:srgbClr val="F5A623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4" name="Text 12"/>
          <p:cNvSpPr/>
          <p:nvPr/>
        </p:nvSpPr>
        <p:spPr>
          <a:xfrm>
            <a:off x="6492240" y="8229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" y="1261872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16" name="Text 14"/>
          <p:cNvSpPr/>
          <p:nvPr/>
        </p:nvSpPr>
        <p:spPr>
          <a:xfrm>
            <a:off x="347472" y="12618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Crypto Accepted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93392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Text 16"/>
          <p:cNvSpPr/>
          <p:nvPr/>
        </p:nvSpPr>
        <p:spPr>
          <a:xfrm>
            <a:off x="1993392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93008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3493008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92624" y="126187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22" name="Text 20"/>
          <p:cNvSpPr/>
          <p:nvPr/>
        </p:nvSpPr>
        <p:spPr>
          <a:xfrm>
            <a:off x="4992624" y="126187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1261872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4" name="Text 22"/>
          <p:cNvSpPr/>
          <p:nvPr/>
        </p:nvSpPr>
        <p:spPr>
          <a:xfrm>
            <a:off x="6492240" y="126187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via Jumper/LI.FI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1682496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26" name="Text 24"/>
          <p:cNvSpPr/>
          <p:nvPr/>
        </p:nvSpPr>
        <p:spPr>
          <a:xfrm>
            <a:off x="347472" y="168249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Fees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28" name="Text 26"/>
          <p:cNvSpPr/>
          <p:nvPr/>
        </p:nvSpPr>
        <p:spPr>
          <a:xfrm>
            <a:off x="1993392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93008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30" name="Text 28"/>
          <p:cNvSpPr/>
          <p:nvPr/>
        </p:nvSpPr>
        <p:spPr>
          <a:xfrm>
            <a:off x="3493008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92624" y="168249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32" name="Text 30"/>
          <p:cNvSpPr/>
          <p:nvPr/>
        </p:nvSpPr>
        <p:spPr>
          <a:xfrm>
            <a:off x="4992624" y="168249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only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1682496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4" name="Text 32"/>
          <p:cNvSpPr/>
          <p:nvPr/>
        </p:nvSpPr>
        <p:spPr>
          <a:xfrm>
            <a:off x="6492240" y="168249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 target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" y="2103120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36" name="Text 34"/>
          <p:cNvSpPr/>
          <p:nvPr/>
        </p:nvSpPr>
        <p:spPr>
          <a:xfrm>
            <a:off x="347472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Rewards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38" name="Text 36"/>
          <p:cNvSpPr/>
          <p:nvPr/>
        </p:nvSpPr>
        <p:spPr>
          <a:xfrm>
            <a:off x="1993392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93008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40" name="Text 38"/>
          <p:cNvSpPr/>
          <p:nvPr/>
        </p:nvSpPr>
        <p:spPr>
          <a:xfrm>
            <a:off x="3493008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92624" y="210312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42" name="Text 40"/>
          <p:cNvSpPr/>
          <p:nvPr/>
        </p:nvSpPr>
        <p:spPr>
          <a:xfrm>
            <a:off x="4992624" y="2103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2103120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44" name="Text 42"/>
          <p:cNvSpPr/>
          <p:nvPr/>
        </p:nvSpPr>
        <p:spPr>
          <a:xfrm>
            <a:off x="6492240" y="2103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staking + invites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" y="2523744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46" name="Text 44"/>
          <p:cNvSpPr/>
          <p:nvPr/>
        </p:nvSpPr>
        <p:spPr>
          <a:xfrm>
            <a:off x="347472" y="252374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Staking Yield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93392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48" name="Text 46"/>
          <p:cNvSpPr/>
          <p:nvPr/>
        </p:nvSpPr>
        <p:spPr>
          <a:xfrm>
            <a:off x="1993392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93008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50" name="Text 48"/>
          <p:cNvSpPr/>
          <p:nvPr/>
        </p:nvSpPr>
        <p:spPr>
          <a:xfrm>
            <a:off x="3493008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92624" y="252374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52" name="Text 50"/>
          <p:cNvSpPr/>
          <p:nvPr/>
        </p:nvSpPr>
        <p:spPr>
          <a:xfrm>
            <a:off x="4992624" y="25237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volatile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92240" y="2523744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54" name="Text 52"/>
          <p:cNvSpPr/>
          <p:nvPr/>
        </p:nvSpPr>
        <p:spPr>
          <a:xfrm>
            <a:off x="6492240" y="252374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AI-stabilised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92608" y="2944368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56" name="Text 54"/>
          <p:cNvSpPr/>
          <p:nvPr/>
        </p:nvSpPr>
        <p:spPr>
          <a:xfrm>
            <a:off x="347472" y="29443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Backstop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93392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58" name="Text 56"/>
          <p:cNvSpPr/>
          <p:nvPr/>
        </p:nvSpPr>
        <p:spPr>
          <a:xfrm>
            <a:off x="1993392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93008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60" name="Text 58"/>
          <p:cNvSpPr/>
          <p:nvPr/>
        </p:nvSpPr>
        <p:spPr>
          <a:xfrm>
            <a:off x="3493008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CZ's balance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992624" y="2944368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62" name="Text 60"/>
          <p:cNvSpPr/>
          <p:nvPr/>
        </p:nvSpPr>
        <p:spPr>
          <a:xfrm>
            <a:off x="4992624" y="294436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92240" y="2944368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64" name="Text 62"/>
          <p:cNvSpPr/>
          <p:nvPr/>
        </p:nvSpPr>
        <p:spPr>
          <a:xfrm>
            <a:off x="6492240" y="29443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protocol-owned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2608" y="3364992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66" name="Text 64"/>
          <p:cNvSpPr/>
          <p:nvPr/>
        </p:nvSpPr>
        <p:spPr>
          <a:xfrm>
            <a:off x="347472" y="336499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93392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68" name="Text 66"/>
          <p:cNvSpPr/>
          <p:nvPr/>
        </p:nvSpPr>
        <p:spPr>
          <a:xfrm>
            <a:off x="1993392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493008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70" name="Text 68"/>
          <p:cNvSpPr/>
          <p:nvPr/>
        </p:nvSpPr>
        <p:spPr>
          <a:xfrm>
            <a:off x="3493008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992624" y="3364992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72" name="Text 70"/>
          <p:cNvSpPr/>
          <p:nvPr/>
        </p:nvSpPr>
        <p:spPr>
          <a:xfrm>
            <a:off x="4992624" y="33649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492240" y="3364992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74" name="Text 72"/>
          <p:cNvSpPr/>
          <p:nvPr/>
        </p:nvSpPr>
        <p:spPr>
          <a:xfrm>
            <a:off x="6492240" y="336499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agent (PPO)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92608" y="3785616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76" name="Text 74"/>
          <p:cNvSpPr/>
          <p:nvPr/>
        </p:nvSpPr>
        <p:spPr>
          <a:xfrm>
            <a:off x="347472" y="37856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IL Protection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993392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78" name="Text 76"/>
          <p:cNvSpPr/>
          <p:nvPr/>
        </p:nvSpPr>
        <p:spPr>
          <a:xfrm>
            <a:off x="1993392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93008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80" name="Text 78"/>
          <p:cNvSpPr/>
          <p:nvPr/>
        </p:nvSpPr>
        <p:spPr>
          <a:xfrm>
            <a:off x="3493008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992624" y="3785616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82" name="Text 80"/>
          <p:cNvSpPr/>
          <p:nvPr/>
        </p:nvSpPr>
        <p:spPr>
          <a:xfrm>
            <a:off x="4992624" y="378561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492240" y="3785616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84" name="Text 82"/>
          <p:cNvSpPr/>
          <p:nvPr/>
        </p:nvSpPr>
        <p:spPr>
          <a:xfrm>
            <a:off x="6492240" y="37856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treasury-backed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92608" y="4206240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86" name="Text 84"/>
          <p:cNvSpPr/>
          <p:nvPr/>
        </p:nvSpPr>
        <p:spPr>
          <a:xfrm>
            <a:off x="347472" y="42062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Anti-Abuse System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993392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88" name="Text 86"/>
          <p:cNvSpPr/>
          <p:nvPr/>
        </p:nvSpPr>
        <p:spPr>
          <a:xfrm>
            <a:off x="1993392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493008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90" name="Text 88"/>
          <p:cNvSpPr/>
          <p:nvPr/>
        </p:nvSpPr>
        <p:spPr>
          <a:xfrm>
            <a:off x="3493008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only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992624" y="42062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0F1E30"/>
          </a:solidFill>
          <a:ln w="15240">
            <a:solidFill>
              <a:srgbClr val="0F1E30"/>
            </a:solidFill>
            <a:prstDash val="solid"/>
          </a:ln>
        </p:spPr>
        <p:txBody>
          <a:bodyPr/>
          <a:p/>
          <a:lstStyle/>
        </p:txBody>
      </p:sp>
      <p:sp>
        <p:nvSpPr>
          <p:cNvPr id="92" name="Text 90"/>
          <p:cNvSpPr/>
          <p:nvPr/>
        </p:nvSpPr>
        <p:spPr>
          <a:xfrm>
            <a:off x="4992624" y="4206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492240" y="4206240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94" name="Text 92"/>
          <p:cNvSpPr/>
          <p:nvPr/>
        </p:nvSpPr>
        <p:spPr>
          <a:xfrm>
            <a:off x="6492240" y="4206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on-chain rules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92608" y="4626864"/>
            <a:ext cx="1682496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96" name="Text 94"/>
          <p:cNvSpPr/>
          <p:nvPr/>
        </p:nvSpPr>
        <p:spPr>
          <a:xfrm>
            <a:off x="347472" y="46268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993392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98" name="Text 96"/>
          <p:cNvSpPr/>
          <p:nvPr/>
        </p:nvSpPr>
        <p:spPr>
          <a:xfrm>
            <a:off x="1993392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493008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100" name="Text 98"/>
          <p:cNvSpPr/>
          <p:nvPr/>
        </p:nvSpPr>
        <p:spPr>
          <a:xfrm>
            <a:off x="3493008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992624" y="4626864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112236"/>
          </a:solidFill>
          <a:ln w="15240">
            <a:solidFill>
              <a:srgbClr val="112236"/>
            </a:solidFill>
            <a:prstDash val="solid"/>
          </a:ln>
        </p:spPr>
        <p:txBody>
          <a:bodyPr/>
          <a:p/>
          <a:lstStyle/>
        </p:txBody>
      </p:sp>
      <p:sp>
        <p:nvSpPr>
          <p:cNvPr id="102" name="Text 100"/>
          <p:cNvSpPr/>
          <p:nvPr/>
        </p:nvSpPr>
        <p:spPr>
          <a:xfrm>
            <a:off x="4992624" y="462686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492240" y="4626864"/>
            <a:ext cx="2340864" cy="365760"/>
          </a:xfrm>
          <a:prstGeom prst="roundRect">
            <a:avLst>
              <a:gd name="adj" fmla="val 10000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104" name="Text 102"/>
          <p:cNvSpPr/>
          <p:nvPr/>
        </p:nvSpPr>
        <p:spPr>
          <a:xfrm>
            <a:off x="6492240" y="462686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292608" y="4649724"/>
            <a:ext cx="8558784" cy="457200"/>
          </a:xfrm>
          <a:prstGeom prst="roundRect">
            <a:avLst>
              <a:gd name="adj" fmla="val 14000"/>
            </a:avLst>
          </a:prstGeom>
          <a:solidFill>
            <a:srgbClr val="1A3358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06" name="Text 104"/>
          <p:cNvSpPr/>
          <p:nvPr/>
        </p:nvSpPr>
        <p:spPr>
          <a:xfrm>
            <a:off x="457200" y="47594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moat: AI-governed stability + any-crypto acceptance + merchant reward ecosystem — no single competitor has all three.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Stakeholder Wins — By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22960"/>
            <a:ext cx="4242816" cy="2057400"/>
          </a:xfrm>
          <a:prstGeom prst="roundRect">
            <a:avLst>
              <a:gd name="adj" fmla="val 3556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Shape 4"/>
          <p:cNvSpPr/>
          <p:nvPr/>
        </p:nvSpPr>
        <p:spPr>
          <a:xfrm>
            <a:off x="292608" y="822960"/>
            <a:ext cx="59436" cy="2057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Text 5"/>
          <p:cNvSpPr/>
          <p:nvPr/>
        </p:nvSpPr>
        <p:spPr>
          <a:xfrm>
            <a:off x="457200" y="877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Pay globally with any crypto — single token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Lower fees than credit cards (target &lt;0.5%)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Staking rewards + loyalty tier multipliers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Invite program: earn from 5 levels of referrals (100→50→25→12→6%)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Asset growth: PAYTKN appreciates with network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backing + merchant adoption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effects (more users → more merchants → more utility)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Sticky loyalty tiers — costly to switch away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822960"/>
            <a:ext cx="4242816" cy="2057400"/>
          </a:xfrm>
          <a:prstGeom prst="roundRect">
            <a:avLst>
              <a:gd name="adj" fmla="val 3556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4645152" y="822960"/>
            <a:ext cx="59436" cy="2057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4809744" y="877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1243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9744" y="1444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Accept ETH, BTC, SOL — receive $PAYTKN (via Jumper/LI.FI)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9744" y="170078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Fees well below Stripe's 2–3%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Staking pool: stake merchant earnings for compounding yield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9744" y="221284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Overcollateralised loans (150%) — no interest if staked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9744" y="246888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Rank-based bonuses tied to unique customer volume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2779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9744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switching cost once integrated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9744" y="32369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Global customer base (560M+ crypto users)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9744" y="34747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stabilises volatility — merchant revenue protected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" y="2999232"/>
            <a:ext cx="4242816" cy="1920240"/>
          </a:xfrm>
          <a:prstGeom prst="roundRect">
            <a:avLst>
              <a:gd name="adj" fmla="val 3810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2" name="Shape 30"/>
          <p:cNvSpPr/>
          <p:nvPr/>
        </p:nvSpPr>
        <p:spPr>
          <a:xfrm>
            <a:off x="292608" y="2999232"/>
            <a:ext cx="59436" cy="192024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Text 31"/>
          <p:cNvSpPr/>
          <p:nvPr/>
        </p:nvSpPr>
        <p:spPr>
          <a:xfrm>
            <a:off x="457200" y="3054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PROVIDERS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62102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DEX trading fees on every swap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87705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Epoch-based staking yield (30–90 day lock = higher APY)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1330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Treasury-backed impermanent loss coverage during volatility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Deep liquidity = smoother payments = higher adoption = more fees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00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91947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RL agent maintains token stability → safer than speculation tokens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8874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as buyer of last resort → LPs don't get wiped like Terra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48874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Mercenary capital filtered: short-term LPs get base yield only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45152" y="2999232"/>
            <a:ext cx="4242816" cy="1920240"/>
          </a:xfrm>
          <a:prstGeom prst="roundRect">
            <a:avLst>
              <a:gd name="adj" fmla="val 381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4" name="Shape 42"/>
          <p:cNvSpPr/>
          <p:nvPr/>
        </p:nvSpPr>
        <p:spPr>
          <a:xfrm>
            <a:off x="4645152" y="2999232"/>
            <a:ext cx="59436" cy="192024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5" name="Text 43"/>
          <p:cNvSpPr/>
          <p:nvPr/>
        </p:nvSpPr>
        <p:spPr>
          <a:xfrm>
            <a:off x="4809744" y="30540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809744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9744" y="3621024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Absorbs: TX fees + swap fees + mint tax + liquidation gains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09744" y="387705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Deploys: staking rewards + LP coverage + buybacks + burns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09744" y="413308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Maintains 60:40 PAYTKN:Stable target ratio (RL-governed)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9744" y="438912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Acts as buyer of last resort — prevents ecosystem collapse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9744" y="4700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9744" y="491947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Algorithmic rebalancing — no human governance delay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9744" y="48874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Diversified income: fees + loans + swaps + minting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09744" y="488746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on-chain rules build holder confidence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System Integrity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Text 3"/>
          <p:cNvSpPr/>
          <p:nvPr/>
        </p:nvSpPr>
        <p:spPr>
          <a:xfrm>
            <a:off x="292608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2529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292608" y="1225296"/>
            <a:ext cx="59436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457200" y="1389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 every payment via PAYTKN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97510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Shape 10"/>
          <p:cNvSpPr/>
          <p:nvPr/>
        </p:nvSpPr>
        <p:spPr>
          <a:xfrm>
            <a:off x="292608" y="1975104"/>
            <a:ext cx="59436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3" name="Text 11"/>
          <p:cNvSpPr/>
          <p:nvPr/>
        </p:nvSpPr>
        <p:spPr>
          <a:xfrm>
            <a:off x="457200" y="21396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Bridge/Swap Fees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fee: other token → PAYTKN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724912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Shape 15"/>
          <p:cNvSpPr/>
          <p:nvPr/>
        </p:nvSpPr>
        <p:spPr>
          <a:xfrm>
            <a:off x="292608" y="2724912"/>
            <a:ext cx="59436" cy="6583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Text 16"/>
          <p:cNvSpPr/>
          <p:nvPr/>
        </p:nvSpPr>
        <p:spPr>
          <a:xfrm>
            <a:off x="457200" y="28895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4128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30723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 overcollateral merchant loans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347472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2" name="Shape 20"/>
          <p:cNvSpPr/>
          <p:nvPr/>
        </p:nvSpPr>
        <p:spPr>
          <a:xfrm>
            <a:off x="292608" y="3474720"/>
            <a:ext cx="59436" cy="65836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23" name="Text 21"/>
          <p:cNvSpPr/>
          <p:nvPr/>
        </p:nvSpPr>
        <p:spPr>
          <a:xfrm>
            <a:off x="457200" y="36393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Gains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38221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appreciation + liquidation surplus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" y="422452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7" name="Shape 25"/>
          <p:cNvSpPr/>
          <p:nvPr/>
        </p:nvSpPr>
        <p:spPr>
          <a:xfrm>
            <a:off x="292608" y="4224528"/>
            <a:ext cx="59436" cy="658368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28" name="Text 26"/>
          <p:cNvSpPr/>
          <p:nvPr/>
        </p:nvSpPr>
        <p:spPr>
          <a:xfrm>
            <a:off x="457200" y="43891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Allocation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4572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token supply — scales with network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0288" y="841248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Anti-Gaming &amp; Integrity Parameters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90288" y="1225296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Text 31"/>
          <p:cNvSpPr/>
          <p:nvPr/>
        </p:nvSpPr>
        <p:spPr>
          <a:xfrm>
            <a:off x="4700016" y="1280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Cancel Threshold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48272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3/week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0" y="12801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rewards on abuse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90288" y="1645920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37" name="Text 35"/>
          <p:cNvSpPr/>
          <p:nvPr/>
        </p:nvSpPr>
        <p:spPr>
          <a:xfrm>
            <a:off x="4700016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Reward Gate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48272" y="1700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PAYTKN + 3 TX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170078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Invitee must stake &amp; transact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90288" y="2066544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41" name="Text 39"/>
          <p:cNvSpPr/>
          <p:nvPr/>
        </p:nvSpPr>
        <p:spPr>
          <a:xfrm>
            <a:off x="4700016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Decay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48272" y="2121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per cancel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0" y="212140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by consistent use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90288" y="2487168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5" name="Text 43"/>
          <p:cNvSpPr/>
          <p:nvPr/>
        </p:nvSpPr>
        <p:spPr>
          <a:xfrm>
            <a:off x="4700016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Buying Limit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48272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purchases/week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25420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wallet address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90288" y="2907792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9" name="Text 47"/>
          <p:cNvSpPr/>
          <p:nvPr/>
        </p:nvSpPr>
        <p:spPr>
          <a:xfrm>
            <a:off x="4700016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Collateral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48272" y="29626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63840" y="29626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industry standard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90288" y="3328416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3" name="Text 51"/>
          <p:cNvSpPr/>
          <p:nvPr/>
        </p:nvSpPr>
        <p:spPr>
          <a:xfrm>
            <a:off x="4700016" y="3383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Invite Gate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48272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PAYTKN + 5 TX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63840" y="338328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merchants only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90288" y="3749040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57" name="Text 55"/>
          <p:cNvSpPr/>
          <p:nvPr/>
        </p:nvSpPr>
        <p:spPr>
          <a:xfrm>
            <a:off x="4700016" y="3803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Penalty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748272" y="3803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liquidation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863840" y="380390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possible ban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90288" y="4169664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091520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61" name="Text 59"/>
          <p:cNvSpPr/>
          <p:nvPr/>
        </p:nvSpPr>
        <p:spPr>
          <a:xfrm>
            <a:off x="470001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Epoch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48272" y="4224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7–90 days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863840" y="42245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= higher APY multiplier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90288" y="4590288"/>
            <a:ext cx="4279392" cy="365760"/>
          </a:xfrm>
          <a:prstGeom prst="roundRect">
            <a:avLst>
              <a:gd name="adj" fmla="val 12500"/>
            </a:avLst>
          </a:prstGeom>
          <a:solidFill>
            <a:srgbClr val="112236"/>
          </a:solidFill>
          <a:ln w="15240">
            <a:solidFill>
              <a:srgbClr val="8BA3B8"/>
            </a:solidFill>
            <a:prstDash val="solid"/>
          </a:ln>
        </p:spPr>
        <p:txBody>
          <a:bodyPr/>
          <a:p/>
          <a:lstStyle/>
        </p:txBody>
      </p:sp>
      <p:sp>
        <p:nvSpPr>
          <p:cNvPr id="65" name="Text 63"/>
          <p:cNvSpPr/>
          <p:nvPr/>
        </p:nvSpPr>
        <p:spPr>
          <a:xfrm>
            <a:off x="4700016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Staking Delay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48272" y="4645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863840" y="464515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cancel/rebuy exploit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90288" y="4604004"/>
            <a:ext cx="4279392" cy="502920"/>
          </a:xfrm>
          <a:prstGeom prst="roundRect">
            <a:avLst>
              <a:gd name="adj" fmla="val 12727"/>
            </a:avLst>
          </a:prstGeom>
          <a:solidFill>
            <a:srgbClr val="1A3358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69" name="Text 67"/>
          <p:cNvSpPr/>
          <p:nvPr/>
        </p:nvSpPr>
        <p:spPr>
          <a:xfrm>
            <a:off x="4736592" y="47228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enforced on-chain — permissionless, auditable, no human override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Traction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Shape 3"/>
          <p:cNvSpPr/>
          <p:nvPr/>
        </p:nvSpPr>
        <p:spPr>
          <a:xfrm>
            <a:off x="292608" y="841248"/>
            <a:ext cx="4206240" cy="2304288"/>
          </a:xfrm>
          <a:prstGeom prst="roundRect">
            <a:avLst>
              <a:gd name="adj" fmla="val 3571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" name="Shape 4"/>
          <p:cNvSpPr/>
          <p:nvPr/>
        </p:nvSpPr>
        <p:spPr>
          <a:xfrm>
            <a:off x="292608" y="841248"/>
            <a:ext cx="59436" cy="2304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475488" y="896112"/>
            <a:ext cx="731520" cy="731520"/>
          </a:xfrm>
          <a:prstGeom prst="ellipse">
            <a:avLst/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Text 6"/>
          <p:cNvSpPr/>
          <p:nvPr/>
        </p:nvSpPr>
        <p:spPr>
          <a:xfrm>
            <a:off x="475488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44168" y="932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Essa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1280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Lead &amp; Co-Founder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16642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Reinforcement Learning &amp; simulation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ML pipeline &amp; AI systems 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3591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Tokenomics modelling &amp; ecosystem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7066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Claude Code, AI tooling, rapid prototyping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4206240" cy="2304288"/>
          </a:xfrm>
          <a:prstGeom prst="roundRect">
            <a:avLst>
              <a:gd name="adj" fmla="val 3571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6" name="Shape 14"/>
          <p:cNvSpPr/>
          <p:nvPr/>
        </p:nvSpPr>
        <p:spPr>
          <a:xfrm>
            <a:off x="4617720" y="841248"/>
            <a:ext cx="59436" cy="2304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7" name="Shape 15"/>
          <p:cNvSpPr/>
          <p:nvPr/>
        </p:nvSpPr>
        <p:spPr>
          <a:xfrm>
            <a:off x="4800600" y="896112"/>
            <a:ext cx="731520" cy="731520"/>
          </a:xfrm>
          <a:prstGeom prst="ellipse">
            <a:avLst/>
          </a:prstGeom>
          <a:solidFill>
            <a:srgbClr val="F5A623">
              <a:alpha val="15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8" name="Text 16"/>
          <p:cNvSpPr/>
          <p:nvPr/>
        </p:nvSpPr>
        <p:spPr>
          <a:xfrm>
            <a:off x="4800600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0" y="932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Arbaaz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1280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[Add Arbaaz's skills here]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[Technical / Business / Blockchain]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3591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[Any relevant experience]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0662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[Education background]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255264"/>
            <a:ext cx="8558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92608" y="363931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27" name="Shape 25"/>
          <p:cNvSpPr/>
          <p:nvPr/>
        </p:nvSpPr>
        <p:spPr>
          <a:xfrm>
            <a:off x="292608" y="3639312"/>
            <a:ext cx="59436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28" name="Text 26"/>
          <p:cNvSpPr/>
          <p:nvPr/>
        </p:nvSpPr>
        <p:spPr>
          <a:xfrm>
            <a:off x="438912" y="380390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0976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Framework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0976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7-sheet model · 4 roles · 28 parameters · full incentive design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3639312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2" name="Shape 30"/>
          <p:cNvSpPr/>
          <p:nvPr/>
        </p:nvSpPr>
        <p:spPr>
          <a:xfrm>
            <a:off x="4608576" y="3639312"/>
            <a:ext cx="59436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Text 31"/>
          <p:cNvSpPr/>
          <p:nvPr/>
        </p:nvSpPr>
        <p:spPr>
          <a:xfrm>
            <a:off x="4754880" y="380390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66944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NSTP Hatch 8 Shortlisted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66944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competitive national applicant pool — independent validation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2608" y="43891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7" name="Shape 35"/>
          <p:cNvSpPr/>
          <p:nvPr/>
        </p:nvSpPr>
        <p:spPr>
          <a:xfrm>
            <a:off x="292608" y="4389120"/>
            <a:ext cx="59436" cy="658368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8" name="Text 36"/>
          <p:cNvSpPr/>
          <p:nvPr/>
        </p:nvSpPr>
        <p:spPr>
          <a:xfrm>
            <a:off x="438912" y="4553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0976" y="4443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FYP — Academic Rigor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0976" y="4736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Dual-validated: research project + startup — methodology peer-reviewed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438912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112236"/>
          </a:solidFill>
          <a:ln w="1524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2" name="Shape 40"/>
          <p:cNvSpPr/>
          <p:nvPr/>
        </p:nvSpPr>
        <p:spPr>
          <a:xfrm>
            <a:off x="4608576" y="4389120"/>
            <a:ext cx="59436" cy="6583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  <p:txBody>
          <a:bodyPr/>
          <a:p/>
          <a:lstStyle/>
        </p:txBody>
      </p:sp>
      <p:sp>
        <p:nvSpPr>
          <p:cNvPr id="43" name="Text 41"/>
          <p:cNvSpPr/>
          <p:nvPr/>
        </p:nvSpPr>
        <p:spPr>
          <a:xfrm>
            <a:off x="4754880" y="4553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66944" y="4443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Board Complete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66944" y="47365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payment + reward + treasury architecture fully mapped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91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GreyHatFinance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Why NSTP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" name="Text 3"/>
          <p:cNvSpPr/>
          <p:nvPr/>
        </p:nvSpPr>
        <p:spPr>
          <a:xfrm>
            <a:off x="292608" y="822960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8229600" cy="457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p/>
          <a:lstStyle/>
        </p:txBody>
      </p:sp>
      <p:sp>
        <p:nvSpPr>
          <p:cNvPr id="7" name="Shape 5"/>
          <p:cNvSpPr/>
          <p:nvPr/>
        </p:nvSpPr>
        <p:spPr>
          <a:xfrm>
            <a:off x="1042416" y="1298448"/>
            <a:ext cx="219456" cy="21945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8" name="Shape 6"/>
          <p:cNvSpPr/>
          <p:nvPr/>
        </p:nvSpPr>
        <p:spPr>
          <a:xfrm>
            <a:off x="1152144" y="1517904"/>
            <a:ext cx="0" cy="292608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9" name="Text 7"/>
          <p:cNvSpPr/>
          <p:nvPr/>
        </p:nvSpPr>
        <p:spPr>
          <a:xfrm>
            <a:off x="29260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1" name="Shape 9"/>
          <p:cNvSpPr/>
          <p:nvPr/>
        </p:nvSpPr>
        <p:spPr>
          <a:xfrm>
            <a:off x="292608" y="1828800"/>
            <a:ext cx="2029968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12" name="Text 10"/>
          <p:cNvSpPr/>
          <p:nvPr/>
        </p:nvSpPr>
        <p:spPr>
          <a:xfrm>
            <a:off x="38404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RL simulation environment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Quantify 28 tokenomic params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Smart contract architecture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Ecosystem simulation &amp; stress 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1298448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19" name="Shape 17"/>
          <p:cNvSpPr/>
          <p:nvPr/>
        </p:nvSpPr>
        <p:spPr>
          <a:xfrm>
            <a:off x="3255264" y="1517904"/>
            <a:ext cx="0" cy="292608"/>
          </a:xfrm>
          <a:prstGeom prst="line">
            <a:avLst/>
          </a:prstGeom>
          <a:noFill/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0" name="Text 18"/>
          <p:cNvSpPr/>
          <p:nvPr/>
        </p:nvSpPr>
        <p:spPr>
          <a:xfrm>
            <a:off x="239572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9572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2" name="Shape 20"/>
          <p:cNvSpPr/>
          <p:nvPr/>
        </p:nvSpPr>
        <p:spPr>
          <a:xfrm>
            <a:off x="2395728" y="1828800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23" name="Text 21"/>
          <p:cNvSpPr/>
          <p:nvPr/>
        </p:nvSpPr>
        <p:spPr>
          <a:xfrm>
            <a:off x="248716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8716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8716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Testnet deployment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8716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First 10 merchant pilots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8716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RL agent training on live sim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Security audit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48656" y="1298448"/>
            <a:ext cx="219456" cy="219456"/>
          </a:xfrm>
          <a:prstGeom prst="ellipse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0" name="Shape 28"/>
          <p:cNvSpPr/>
          <p:nvPr/>
        </p:nvSpPr>
        <p:spPr>
          <a:xfrm>
            <a:off x="5358384" y="1517904"/>
            <a:ext cx="0" cy="292608"/>
          </a:xfrm>
          <a:prstGeom prst="line">
            <a:avLst/>
          </a:prstGeom>
          <a:noFill/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1" name="Text 29"/>
          <p:cNvSpPr/>
          <p:nvPr/>
        </p:nvSpPr>
        <p:spPr>
          <a:xfrm>
            <a:off x="449884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9884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3" name="Shape 31"/>
          <p:cNvSpPr/>
          <p:nvPr/>
        </p:nvSpPr>
        <p:spPr>
          <a:xfrm>
            <a:off x="4498848" y="1828800"/>
            <a:ext cx="2029968" cy="45720"/>
          </a:xfrm>
          <a:prstGeom prst="rect">
            <a:avLst/>
          </a:prstGeom>
          <a:solidFill>
            <a:srgbClr val="00C87A"/>
          </a:solidFill>
          <a:ln w="12700">
            <a:solidFill>
              <a:srgbClr val="00C87A"/>
            </a:solidFill>
            <a:prstDash val="solid"/>
          </a:ln>
        </p:spPr>
        <p:txBody>
          <a:bodyPr/>
          <a:p/>
          <a:lstStyle/>
        </p:txBody>
      </p:sp>
      <p:sp>
        <p:nvSpPr>
          <p:cNvPr id="34" name="Text 32"/>
          <p:cNvSpPr/>
          <p:nvPr/>
        </p:nvSpPr>
        <p:spPr>
          <a:xfrm>
            <a:off x="459028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9028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9028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Mainnet deployment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9028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Pakistan merchant onboarding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9028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DEX listing + LP bootstrapping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9028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Marketing &amp; user acquisition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51776" y="1298448"/>
            <a:ext cx="219456" cy="219456"/>
          </a:xfrm>
          <a:prstGeom prst="ellipse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1" name="Shape 39"/>
          <p:cNvSpPr/>
          <p:nvPr/>
        </p:nvSpPr>
        <p:spPr>
          <a:xfrm>
            <a:off x="7461504" y="1517904"/>
            <a:ext cx="0" cy="292608"/>
          </a:xfrm>
          <a:prstGeom prst="line">
            <a:avLst/>
          </a:prstGeom>
          <a:noFill/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2" name="Text 40"/>
          <p:cNvSpPr/>
          <p:nvPr/>
        </p:nvSpPr>
        <p:spPr>
          <a:xfrm>
            <a:off x="6601968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2027+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01968" y="1828800"/>
            <a:ext cx="2029968" cy="2450592"/>
          </a:xfrm>
          <a:prstGeom prst="roundRect">
            <a:avLst>
              <a:gd name="adj" fmla="val 3604"/>
            </a:avLst>
          </a:prstGeom>
          <a:solidFill>
            <a:srgbClr val="112236"/>
          </a:solidFill>
          <a:ln w="1524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4" name="Shape 42"/>
          <p:cNvSpPr/>
          <p:nvPr/>
        </p:nvSpPr>
        <p:spPr>
          <a:xfrm>
            <a:off x="6601968" y="1828800"/>
            <a:ext cx="2029968" cy="45720"/>
          </a:xfrm>
          <a:prstGeom prst="rect">
            <a:avLst/>
          </a:prstGeom>
          <a:solidFill>
            <a:srgbClr val="FF4040"/>
          </a:solidFill>
          <a:ln w="12700">
            <a:solidFill>
              <a:srgbClr val="FF4040"/>
            </a:solidFill>
            <a:prstDash val="solid"/>
          </a:ln>
        </p:spPr>
        <p:txBody>
          <a:bodyPr/>
          <a:p/>
          <a:lstStyle/>
        </p:txBody>
      </p:sp>
      <p:sp>
        <p:nvSpPr>
          <p:cNvPr id="45" name="Text 43"/>
          <p:cNvSpPr/>
          <p:nvPr/>
        </p:nvSpPr>
        <p:spPr>
          <a:xfrm>
            <a:off x="6693408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93408" y="217627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9340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South Asia regional expansion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3408" y="29992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Institutional LP onboarding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93408" y="33832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Cross-chain bridges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93408" y="376732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Governance module live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2608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NSTP Specifically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645152" y="4389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92608" y="4210812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4" name="Shape 52"/>
          <p:cNvSpPr/>
          <p:nvPr/>
        </p:nvSpPr>
        <p:spPr>
          <a:xfrm>
            <a:off x="438912" y="47731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5" name="Text 53"/>
          <p:cNvSpPr/>
          <p:nvPr/>
        </p:nvSpPr>
        <p:spPr>
          <a:xfrm>
            <a:off x="621792" y="4736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most credible deep-tech incubator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8912" y="49377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7" name="Text 55"/>
          <p:cNvSpPr/>
          <p:nvPr/>
        </p:nvSpPr>
        <p:spPr>
          <a:xfrm>
            <a:off x="621792" y="4901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blockchain mentor network access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38912" y="50154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59" name="Text 57"/>
          <p:cNvSpPr/>
          <p:nvPr/>
        </p:nvSpPr>
        <p:spPr>
          <a:xfrm>
            <a:off x="621792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for merchant &amp; institutional trust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8912" y="50154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61" name="Text 59"/>
          <p:cNvSpPr/>
          <p:nvPr/>
        </p:nvSpPr>
        <p:spPr>
          <a:xfrm>
            <a:off x="621792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 remittance market — NSTP is at the heart of it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8912" y="50154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  <a:lstStyle/>
        </p:txBody>
      </p:sp>
      <p:sp>
        <p:nvSpPr>
          <p:cNvPr id="63" name="Text 61"/>
          <p:cNvSpPr/>
          <p:nvPr/>
        </p:nvSpPr>
        <p:spPr>
          <a:xfrm>
            <a:off x="621792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NUST ecosystem &amp; regulatory navigation support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45152" y="4210812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112236"/>
          </a:solidFill>
          <a:ln w="1524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5" name="Shape 63"/>
          <p:cNvSpPr/>
          <p:nvPr/>
        </p:nvSpPr>
        <p:spPr>
          <a:xfrm>
            <a:off x="4791456" y="477316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6" name="Text 64"/>
          <p:cNvSpPr/>
          <p:nvPr/>
        </p:nvSpPr>
        <p:spPr>
          <a:xfrm>
            <a:off x="4974336" y="4736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Pre-incubation workspace + mentorship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91456" y="49377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68" name="Text 66"/>
          <p:cNvSpPr/>
          <p:nvPr/>
        </p:nvSpPr>
        <p:spPr>
          <a:xfrm>
            <a:off x="4974336" y="4901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merchant network introductions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91456" y="50154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0" name="Text 68"/>
          <p:cNvSpPr/>
          <p:nvPr/>
        </p:nvSpPr>
        <p:spPr>
          <a:xfrm>
            <a:off x="4974336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Compute/infra for RL agent training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91456" y="50154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2" name="Text 70"/>
          <p:cNvSpPr/>
          <p:nvPr/>
        </p:nvSpPr>
        <p:spPr>
          <a:xfrm>
            <a:off x="4974336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guidance on crypto framework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91456" y="501548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  <a:lstStyle/>
        </p:txBody>
      </p:sp>
      <p:sp>
        <p:nvSpPr>
          <p:cNvPr id="74" name="Text 72"/>
          <p:cNvSpPr/>
          <p:nvPr/>
        </p:nvSpPr>
        <p:spPr>
          <a:xfrm>
            <a:off x="4974336" y="49423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readiness &amp; investor connects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595360" y="4892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GreyHatFinance – NSTP Hatch 8 Pitch Deck</dc:title>
  <dc:subject>PptxGenJS Presentation</dc:subject>
  <dc:creator>Muhammad Essa &amp; Arbaaz</dc:creator>
  <cp:lastModifiedBy>Muhammad Essa &amp; Arbaaz</cp:lastModifiedBy>
  <cp:revision>1</cp:revision>
  <dcterms:created xsi:type="dcterms:W3CDTF">2026-04-13T16:28:15Z</dcterms:created>
  <dcterms:modified xsi:type="dcterms:W3CDTF">2026-04-13T16:28:15Z</dcterms:modified>
</cp:coreProperties>
</file>